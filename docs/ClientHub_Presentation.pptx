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ClientHub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1">
                <a:solidFill>
                  <a:srgbClr val="E8F0FB"/>
                </a:solidFill>
                <a:latin typeface="Calibri"/>
              </a:rPr>
              <a:t>AI-Powered Agency Client &amp; Project Management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555555"/>
                </a:solidFill>
                <a:latin typeface="Calibri"/>
              </a:rPr>
              <a:t>Submitted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1772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Suryakanta Pradhan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E8F0FB"/>
                </a:solidFill>
                <a:latin typeface="Calibri"/>
              </a:rPr>
              <a:t>Master of Computer Applications (MCA)  •  Full-Stack Web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7315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 i="0">
                <a:solidFill>
                  <a:srgbClr val="E8F0FB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1">
                <a:solidFill>
                  <a:srgbClr val="2B6CB0"/>
                </a:solidFill>
              </a:rPr>
              <a:t>•  </a:t>
            </a:r>
            <a:r>
              <a:rPr sz="2000" b="1">
                <a:solidFill>
                  <a:srgbClr val="1F355E"/>
                </a:solidFill>
              </a:rPr>
              <a:t>Fragmented tools:</a:t>
            </a:r>
            <a:r>
              <a:rPr sz="2000">
                <a:solidFill>
                  <a:srgbClr val="555555"/>
                </a:solidFill>
              </a:rPr>
              <a:t> agencies juggle spreadsheets, separate task boards, email, and billing apps.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2B6CB0"/>
                </a:solidFill>
              </a:rPr>
              <a:t>•  </a:t>
            </a:r>
            <a:r>
              <a:rPr sz="2000" b="1">
                <a:solidFill>
                  <a:srgbClr val="1F355E"/>
                </a:solidFill>
              </a:rPr>
              <a:t>No client transparency:</a:t>
            </a:r>
            <a:r>
              <a:rPr sz="2000">
                <a:solidFill>
                  <a:srgbClr val="555555"/>
                </a:solidFill>
              </a:rPr>
              <a:t> clients must email to learn how their project is going.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2B6CB0"/>
                </a:solidFill>
              </a:rPr>
              <a:t>•  </a:t>
            </a:r>
            <a:r>
              <a:rPr sz="2000" b="1">
                <a:solidFill>
                  <a:srgbClr val="1F355E"/>
                </a:solidFill>
              </a:rPr>
              <a:t>Manual reporting:</a:t>
            </a:r>
            <a:r>
              <a:rPr sz="2000">
                <a:solidFill>
                  <a:srgbClr val="555555"/>
                </a:solidFill>
              </a:rPr>
              <a:t> writing weekly status updates for every client is slow, repetitive work.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2B6CB0"/>
                </a:solidFill>
              </a:rPr>
              <a:t>•  </a:t>
            </a:r>
            <a:r>
              <a:rPr sz="2000" b="1">
                <a:solidFill>
                  <a:srgbClr val="1F355E"/>
                </a:solidFill>
              </a:rPr>
              <a:t>Disconnected billing:</a:t>
            </a:r>
            <a:r>
              <a:rPr sz="2000">
                <a:solidFill>
                  <a:srgbClr val="555555"/>
                </a:solidFill>
              </a:rPr>
              <a:t> invoicing lives outside the project tool, detached from real work done.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2B6CB0"/>
                </a:solidFill>
              </a:rPr>
              <a:t>•  </a:t>
            </a:r>
            <a:r>
              <a:rPr sz="2000" b="1">
                <a:solidFill>
                  <a:srgbClr val="1F355E"/>
                </a:solidFill>
              </a:rPr>
              <a:t>Late risk detection:</a:t>
            </a:r>
            <a:r>
              <a:rPr sz="2000">
                <a:solidFill>
                  <a:srgbClr val="555555"/>
                </a:solidFill>
              </a:rPr>
              <a:t> slipping deadlines are noticed only after they become a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Solution — ClientHub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7315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 i="0">
                <a:solidFill>
                  <a:srgbClr val="E8F0FB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F355E"/>
                </a:solidFill>
                <a:latin typeface="Calibri"/>
              </a:rPr>
              <a:t>One role-aware portal that unifies three products usually bought separately: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3383280" cy="237744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377440"/>
            <a:ext cx="3383280" cy="6400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3383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Clients, projects &amp; tasks with a drag-and-drop Kanban workflow.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2377440"/>
            <a:ext cx="3383280" cy="237744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2377440"/>
            <a:ext cx="3383280" cy="6400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377440"/>
            <a:ext cx="3383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SaaS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200400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Multi-tenant, role-based dashboards for Admin, Team &amp; Client.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377440"/>
            <a:ext cx="3383280" cy="237744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377440"/>
            <a:ext cx="3383280" cy="6400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377440"/>
            <a:ext cx="3383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Fintech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200400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Invoicing + online payments with secure webhook verification.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2064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6A34A"/>
                </a:solidFill>
                <a:latin typeface="Calibri"/>
              </a:rPr>
              <a:t>+ Real-time notifications, analytics dashboards, and an AI weekly progress engine.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Module 1 — Authentication &amp;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7315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 i="0">
                <a:solidFill>
                  <a:srgbClr val="E8F0FB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2B6CB0"/>
                </a:solidFill>
              </a:rPr>
              <a:t>•  </a:t>
            </a:r>
            <a:r>
              <a:rPr sz="2000" b="1">
                <a:solidFill>
                  <a:srgbClr val="1F355E"/>
                </a:solidFill>
              </a:rPr>
              <a:t>Secure login:</a:t>
            </a:r>
            <a:r>
              <a:rPr sz="2000">
                <a:solidFill>
                  <a:srgbClr val="555555"/>
                </a:solidFill>
              </a:rPr>
              <a:t> email + password with bcrypt hashing.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2B6CB0"/>
                </a:solidFill>
              </a:rPr>
              <a:t>•  </a:t>
            </a:r>
            <a:r>
              <a:rPr sz="2000" b="1">
                <a:solidFill>
                  <a:srgbClr val="1F355E"/>
                </a:solidFill>
              </a:rPr>
              <a:t>JWT sessions:</a:t>
            </a:r>
            <a:r>
              <a:rPr sz="2000">
                <a:solidFill>
                  <a:srgbClr val="555555"/>
                </a:solidFill>
              </a:rPr>
              <a:t> stateless tokens verified on every request.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2B6CB0"/>
                </a:solidFill>
              </a:rPr>
              <a:t>•  </a:t>
            </a:r>
            <a:r>
              <a:rPr sz="2000" b="1">
                <a:solidFill>
                  <a:srgbClr val="1F355E"/>
                </a:solidFill>
              </a:rPr>
              <a:t>Role-based access:</a:t>
            </a:r>
            <a:r>
              <a:rPr sz="2000">
                <a:solidFill>
                  <a:srgbClr val="555555"/>
                </a:solidFill>
              </a:rPr>
              <a:t> admin / team_member / client guards.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2B6CB0"/>
                </a:solidFill>
              </a:rPr>
              <a:t>•  </a:t>
            </a:r>
            <a:r>
              <a:rPr sz="2000" b="1">
                <a:solidFill>
                  <a:srgbClr val="1F355E"/>
                </a:solidFill>
              </a:rPr>
              <a:t>Password reset:</a:t>
            </a:r>
            <a:r>
              <a:rPr sz="2000">
                <a:solidFill>
                  <a:srgbClr val="555555"/>
                </a:solidFill>
              </a:rPr>
              <a:t> time-limited emailed link via Nodemailer.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2B6CB0"/>
                </a:solidFill>
              </a:rPr>
              <a:t>•  </a:t>
            </a:r>
            <a:r>
              <a:rPr sz="2000" b="1">
                <a:solidFill>
                  <a:srgbClr val="1F355E"/>
                </a:solidFill>
              </a:rPr>
              <a:t>Hardening:</a:t>
            </a:r>
            <a:r>
              <a:rPr sz="2000">
                <a:solidFill>
                  <a:srgbClr val="555555"/>
                </a:solidFill>
              </a:rPr>
              <a:t> input validation + rate-limiting on auth routes.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Module 2 &amp; 3 — Clients &amp; Projects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7315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 i="0">
                <a:solidFill>
                  <a:srgbClr val="E8F0FB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2B6CB0"/>
                </a:solidFill>
              </a:rPr>
              <a:t>•  </a:t>
            </a:r>
            <a:r>
              <a:rPr sz="2000" b="1">
                <a:solidFill>
                  <a:srgbClr val="1F355E"/>
                </a:solidFill>
              </a:rPr>
              <a:t>Client directory:</a:t>
            </a:r>
            <a:r>
              <a:rPr sz="2000">
                <a:solidFill>
                  <a:srgbClr val="555555"/>
                </a:solidFill>
              </a:rPr>
              <a:t> contacts, notes, ImageKit logo upload.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2B6CB0"/>
                </a:solidFill>
              </a:rPr>
              <a:t>•  </a:t>
            </a:r>
            <a:r>
              <a:rPr sz="2000" b="1">
                <a:solidFill>
                  <a:srgbClr val="1F355E"/>
                </a:solidFill>
              </a:rPr>
              <a:t>Portal accounts:</a:t>
            </a:r>
            <a:r>
              <a:rPr sz="2000">
                <a:solidFill>
                  <a:srgbClr val="555555"/>
                </a:solidFill>
              </a:rPr>
              <a:t> each client links to a login account.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2B6CB0"/>
                </a:solidFill>
              </a:rPr>
              <a:t>•  </a:t>
            </a:r>
            <a:r>
              <a:rPr sz="2000" b="1">
                <a:solidFill>
                  <a:srgbClr val="1F355E"/>
                </a:solidFill>
              </a:rPr>
              <a:t>Search &amp; filter:</a:t>
            </a:r>
            <a:r>
              <a:rPr sz="2000">
                <a:solidFill>
                  <a:srgbClr val="555555"/>
                </a:solidFill>
              </a:rPr>
              <a:t> by name, status, or project count.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2B6CB0"/>
                </a:solidFill>
              </a:rPr>
              <a:t>•  </a:t>
            </a:r>
            <a:r>
              <a:rPr sz="2000" b="1">
                <a:solidFill>
                  <a:srgbClr val="1F355E"/>
                </a:solidFill>
              </a:rPr>
              <a:t>Projects:</a:t>
            </a:r>
            <a:r>
              <a:rPr sz="2000">
                <a:solidFill>
                  <a:srgbClr val="555555"/>
                </a:solidFill>
              </a:rPr>
              <a:t> budget, timeline, status under each client.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2B6CB0"/>
                </a:solidFill>
              </a:rPr>
              <a:t>•  </a:t>
            </a:r>
            <a:r>
              <a:rPr sz="2000" b="1">
                <a:solidFill>
                  <a:srgbClr val="1F355E"/>
                </a:solidFill>
              </a:rPr>
              <a:t>Auto progress:</a:t>
            </a:r>
            <a:r>
              <a:rPr sz="2000">
                <a:solidFill>
                  <a:srgbClr val="555555"/>
                </a:solidFill>
              </a:rPr>
              <a:t> % computed from completed vs. total tasks.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Module 4 — Kanban Task 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7315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 i="0">
                <a:solidFill>
                  <a:srgbClr val="E8F0FB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2B6CB0"/>
                </a:solidFill>
              </a:rPr>
              <a:t>•  </a:t>
            </a:r>
            <a:r>
              <a:rPr sz="2000" b="1">
                <a:solidFill>
                  <a:srgbClr val="1F355E"/>
                </a:solidFill>
              </a:rPr>
              <a:t>Four columns:</a:t>
            </a:r>
            <a:r>
              <a:rPr sz="2000">
                <a:solidFill>
                  <a:srgbClr val="555555"/>
                </a:solidFill>
              </a:rPr>
              <a:t> To Do / In Progress / Review / Done.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2B6CB0"/>
                </a:solidFill>
              </a:rPr>
              <a:t>•  </a:t>
            </a:r>
            <a:r>
              <a:rPr sz="2000" b="1">
                <a:solidFill>
                  <a:srgbClr val="1F355E"/>
                </a:solidFill>
              </a:rPr>
              <a:t>Drag &amp; drop:</a:t>
            </a:r>
            <a:r>
              <a:rPr sz="2000">
                <a:solidFill>
                  <a:srgbClr val="555555"/>
                </a:solidFill>
              </a:rPr>
              <a:t> move tasks between columns with @dnd-kit.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2B6CB0"/>
                </a:solidFill>
              </a:rPr>
              <a:t>•  </a:t>
            </a:r>
            <a:r>
              <a:rPr sz="2000" b="1">
                <a:solidFill>
                  <a:srgbClr val="1F355E"/>
                </a:solidFill>
              </a:rPr>
              <a:t>Collaboration:</a:t>
            </a:r>
            <a:r>
              <a:rPr sz="2000">
                <a:solidFill>
                  <a:srgbClr val="555555"/>
                </a:solidFill>
              </a:rPr>
              <a:t> per-task comment threads.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2B6CB0"/>
                </a:solidFill>
              </a:rPr>
              <a:t>•  </a:t>
            </a:r>
            <a:r>
              <a:rPr sz="2000" b="1">
                <a:solidFill>
                  <a:srgbClr val="1F355E"/>
                </a:solidFill>
              </a:rPr>
              <a:t>Time tracking:</a:t>
            </a:r>
            <a:r>
              <a:rPr sz="2000">
                <a:solidFill>
                  <a:srgbClr val="555555"/>
                </a:solidFill>
              </a:rPr>
              <a:t> log hours per task.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2B6CB0"/>
                </a:solidFill>
              </a:rPr>
              <a:t>•  </a:t>
            </a:r>
            <a:r>
              <a:rPr sz="2000" b="1">
                <a:solidFill>
                  <a:srgbClr val="1F355E"/>
                </a:solidFill>
              </a:rPr>
              <a:t>Activity log:</a:t>
            </a:r>
            <a:r>
              <a:rPr sz="2000">
                <a:solidFill>
                  <a:srgbClr val="555555"/>
                </a:solidFill>
              </a:rPr>
              <a:t> who changed what, and when.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Module 5 — Invoicing &amp; Payments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7315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 i="0">
                <a:solidFill>
                  <a:srgbClr val="E8F0FB"/>
                </a:solidFill>
                <a:latin typeface="Calibr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2B6CB0"/>
                </a:solidFill>
              </a:rPr>
              <a:t>•  </a:t>
            </a:r>
            <a:r>
              <a:rPr sz="2000" b="1">
                <a:solidFill>
                  <a:srgbClr val="1F355E"/>
                </a:solidFill>
              </a:rPr>
              <a:t>Invoice builder:</a:t>
            </a:r>
            <a:r>
              <a:rPr sz="2000">
                <a:solidFill>
                  <a:srgbClr val="555555"/>
                </a:solidFill>
              </a:rPr>
              <a:t> line items, auto tax &amp; total.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2B6CB0"/>
                </a:solidFill>
              </a:rPr>
              <a:t>•  </a:t>
            </a:r>
            <a:r>
              <a:rPr sz="2000" b="1">
                <a:solidFill>
                  <a:srgbClr val="1F355E"/>
                </a:solidFill>
              </a:rPr>
              <a:t>Smart suggest:</a:t>
            </a:r>
            <a:r>
              <a:rPr sz="2000">
                <a:solidFill>
                  <a:srgbClr val="555555"/>
                </a:solidFill>
              </a:rPr>
              <a:t> line items from logged hours.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2B6CB0"/>
                </a:solidFill>
              </a:rPr>
              <a:t>•  </a:t>
            </a:r>
            <a:r>
              <a:rPr sz="2000" b="1">
                <a:solidFill>
                  <a:srgbClr val="1F355E"/>
                </a:solidFill>
              </a:rPr>
              <a:t>PDF export:</a:t>
            </a:r>
            <a:r>
              <a:rPr sz="2000">
                <a:solidFill>
                  <a:srgbClr val="555555"/>
                </a:solidFill>
              </a:rPr>
              <a:t> downloadable, professional invoices.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2B6CB0"/>
                </a:solidFill>
              </a:rPr>
              <a:t>•  </a:t>
            </a:r>
            <a:r>
              <a:rPr sz="2000" b="1">
                <a:solidFill>
                  <a:srgbClr val="1F355E"/>
                </a:solidFill>
              </a:rPr>
              <a:t>Pay Now:</a:t>
            </a:r>
            <a:r>
              <a:rPr sz="2000">
                <a:solidFill>
                  <a:srgbClr val="555555"/>
                </a:solidFill>
              </a:rPr>
              <a:t> Razorpay test-mode checkout.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2B6CB0"/>
                </a:solidFill>
              </a:rPr>
              <a:t>•  </a:t>
            </a:r>
            <a:r>
              <a:rPr sz="2000" b="1">
                <a:solidFill>
                  <a:srgbClr val="1F355E"/>
                </a:solidFill>
              </a:rPr>
              <a:t>Secure webhook:</a:t>
            </a:r>
            <a:r>
              <a:rPr sz="2000">
                <a:solidFill>
                  <a:srgbClr val="555555"/>
                </a:solidFill>
              </a:rPr>
              <a:t> HMAC-verified on the raw body, idempotent.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Module 6 — Real-Time Notifications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7315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 i="0">
                <a:solidFill>
                  <a:srgbClr val="E8F0FB"/>
                </a:solidFill>
                <a:latin typeface="Calibr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2B6CB0"/>
                </a:solidFill>
              </a:rPr>
              <a:t>•  </a:t>
            </a:r>
            <a:r>
              <a:rPr sz="2000" b="1">
                <a:solidFill>
                  <a:srgbClr val="1F355E"/>
                </a:solidFill>
              </a:rPr>
              <a:t>Socket.io:</a:t>
            </a:r>
            <a:r>
              <a:rPr sz="2000">
                <a:solidFill>
                  <a:srgbClr val="555555"/>
                </a:solidFill>
              </a:rPr>
              <a:t> live events end-to-end.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2B6CB0"/>
                </a:solidFill>
              </a:rPr>
              <a:t>•  </a:t>
            </a:r>
            <a:r>
              <a:rPr sz="2000" b="1">
                <a:solidFill>
                  <a:srgbClr val="1F355E"/>
                </a:solidFill>
              </a:rPr>
              <a:t>Triggers:</a:t>
            </a:r>
            <a:r>
              <a:rPr sz="2000">
                <a:solidFill>
                  <a:srgbClr val="555555"/>
                </a:solidFill>
              </a:rPr>
              <a:t> task assigned, comment, payment, status change.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2B6CB0"/>
                </a:solidFill>
              </a:rPr>
              <a:t>•  </a:t>
            </a:r>
            <a:r>
              <a:rPr sz="2000" b="1">
                <a:solidFill>
                  <a:srgbClr val="1F355E"/>
                </a:solidFill>
              </a:rPr>
              <a:t>Bell + badge:</a:t>
            </a:r>
            <a:r>
              <a:rPr sz="2000">
                <a:solidFill>
                  <a:srgbClr val="555555"/>
                </a:solidFill>
              </a:rPr>
              <a:t> unread count in the navbar.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2B6CB0"/>
                </a:solidFill>
              </a:rPr>
              <a:t>•  </a:t>
            </a:r>
            <a:r>
              <a:rPr sz="2000" b="1">
                <a:solidFill>
                  <a:srgbClr val="1F355E"/>
                </a:solidFill>
              </a:rPr>
              <a:t>Clickable list:</a:t>
            </a:r>
            <a:r>
              <a:rPr sz="2000">
                <a:solidFill>
                  <a:srgbClr val="555555"/>
                </a:solidFill>
              </a:rPr>
              <a:t> jump straight to the related item.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2B6CB0"/>
                </a:solidFill>
              </a:rPr>
              <a:t>•  </a:t>
            </a:r>
            <a:r>
              <a:rPr sz="2000" b="1">
                <a:solidFill>
                  <a:srgbClr val="1F355E"/>
                </a:solidFill>
              </a:rPr>
              <a:t>Email fallback:</a:t>
            </a:r>
            <a:r>
              <a:rPr sz="2000">
                <a:solidFill>
                  <a:srgbClr val="555555"/>
                </a:solidFill>
              </a:rPr>
              <a:t> for high-importance events.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Module 7 — Analytics Dashboards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7315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 i="0">
                <a:solidFill>
                  <a:srgbClr val="E8F0FB"/>
                </a:solidFill>
                <a:latin typeface="Calibr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2B6CB0"/>
                </a:solidFill>
              </a:rPr>
              <a:t>•  </a:t>
            </a:r>
            <a:r>
              <a:rPr sz="2000" b="1">
                <a:solidFill>
                  <a:srgbClr val="1F355E"/>
                </a:solidFill>
              </a:rPr>
              <a:t>Admin view:</a:t>
            </a:r>
            <a:r>
              <a:rPr sz="2000">
                <a:solidFill>
                  <a:srgbClr val="555555"/>
                </a:solidFill>
              </a:rPr>
              <a:t> revenue, pending payments, project counts.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2B6CB0"/>
                </a:solidFill>
              </a:rPr>
              <a:t>•  </a:t>
            </a:r>
            <a:r>
              <a:rPr sz="2000" b="1">
                <a:solidFill>
                  <a:srgbClr val="1F355E"/>
                </a:solidFill>
              </a:rPr>
              <a:t>Team workload:</a:t>
            </a:r>
            <a:r>
              <a:rPr sz="2000">
                <a:solidFill>
                  <a:srgbClr val="555555"/>
                </a:solidFill>
              </a:rPr>
              <a:t> and top clients by revenue.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2B6CB0"/>
                </a:solidFill>
              </a:rPr>
              <a:t>•  </a:t>
            </a:r>
            <a:r>
              <a:rPr sz="2000" b="1">
                <a:solidFill>
                  <a:srgbClr val="1F355E"/>
                </a:solidFill>
              </a:rPr>
              <a:t>Client view:</a:t>
            </a:r>
            <a:r>
              <a:rPr sz="2000">
                <a:solidFill>
                  <a:srgbClr val="555555"/>
                </a:solidFill>
              </a:rPr>
              <a:t> progress %, deadlines, invoice summary.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2B6CB0"/>
                </a:solidFill>
              </a:rPr>
              <a:t>•  </a:t>
            </a:r>
            <a:r>
              <a:rPr sz="2000" b="1">
                <a:solidFill>
                  <a:srgbClr val="1F355E"/>
                </a:solidFill>
              </a:rPr>
              <a:t>Aggregated in SQL:</a:t>
            </a:r>
            <a:r>
              <a:rPr sz="2000">
                <a:solidFill>
                  <a:srgbClr val="555555"/>
                </a:solidFill>
              </a:rPr>
              <a:t> grouped in the database, not in JavaScript.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2B6CB0"/>
                </a:solidFill>
              </a:rPr>
              <a:t>•  </a:t>
            </a:r>
            <a:r>
              <a:rPr sz="2000" b="1">
                <a:solidFill>
                  <a:srgbClr val="1F355E"/>
                </a:solidFill>
              </a:rPr>
              <a:t>Recharts:</a:t>
            </a:r>
            <a:r>
              <a:rPr sz="2000">
                <a:solidFill>
                  <a:srgbClr val="555555"/>
                </a:solidFill>
              </a:rPr>
              <a:t> clean charts from live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★  AI Progress Summary — Core Differentiator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7315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 i="0">
                <a:solidFill>
                  <a:srgbClr val="E8F0FB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2103120" cy="96012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19202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F355E"/>
                </a:solidFill>
                <a:latin typeface="Calibri"/>
              </a:rPr>
              <a:t>Aggregate weekly 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463040"/>
            <a:ext cx="2286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16A34A"/>
                </a:solidFill>
                <a:latin typeface="Calibri"/>
              </a:rPr>
              <a:t>›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463040"/>
            <a:ext cx="2103120" cy="96012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463040"/>
            <a:ext cx="19202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F355E"/>
                </a:solidFill>
                <a:latin typeface="Calibri"/>
              </a:rPr>
              <a:t>Build structured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463040"/>
            <a:ext cx="2286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16A34A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3480" y="1463040"/>
            <a:ext cx="2103120" cy="96012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1463040"/>
            <a:ext cx="19202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F355E"/>
                </a:solidFill>
                <a:latin typeface="Calibri"/>
              </a:rPr>
              <a:t>Call Groq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463040"/>
            <a:ext cx="2286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16A34A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1463040"/>
            <a:ext cx="2103120" cy="96012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1463040"/>
            <a:ext cx="19202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F355E"/>
                </a:solidFill>
                <a:latin typeface="Calibri"/>
              </a:rPr>
              <a:t>Summary + risk flag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1463040"/>
            <a:ext cx="2286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16A34A"/>
                </a:solidFill>
                <a:latin typeface="Calibri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64040" y="1463040"/>
            <a:ext cx="2103120" cy="96012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5480" y="1463040"/>
            <a:ext cx="19202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F355E"/>
                </a:solidFill>
                <a:latin typeface="Calibri"/>
              </a:rPr>
              <a:t>Store &amp; display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83464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6A34A"/>
                </a:solidFill>
              </a:rPr>
              <a:t>•  </a:t>
            </a:r>
            <a:r>
              <a:rPr sz="1800" b="1">
                <a:solidFill>
                  <a:srgbClr val="1F355E"/>
                </a:solidFill>
              </a:rPr>
              <a:t>Output:</a:t>
            </a:r>
            <a:r>
              <a:rPr sz="1800">
                <a:solidFill>
                  <a:srgbClr val="E8F0FB"/>
                </a:solidFill>
              </a:rPr>
              <a:t> a friendly, client-ready summary of done / pending / blockers.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6A34A"/>
                </a:solidFill>
              </a:rPr>
              <a:t>•  </a:t>
            </a:r>
            <a:r>
              <a:rPr sz="1800" b="1">
                <a:solidFill>
                  <a:srgbClr val="1F355E"/>
                </a:solidFill>
              </a:rPr>
              <a:t>Risk flag:</a:t>
            </a:r>
            <a:r>
              <a:rPr sz="1800">
                <a:solidFill>
                  <a:srgbClr val="E8F0FB"/>
                </a:solidFill>
              </a:rPr>
              <a:t> on-track  •  at-risk  •  delayed — auto-classified.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6A34A"/>
                </a:solidFill>
              </a:rPr>
              <a:t>•  </a:t>
            </a:r>
            <a:r>
              <a:rPr sz="1800" b="1">
                <a:solidFill>
                  <a:srgbClr val="1F355E"/>
                </a:solidFill>
              </a:rPr>
              <a:t>Automated:</a:t>
            </a:r>
            <a:r>
              <a:rPr sz="1800">
                <a:solidFill>
                  <a:srgbClr val="E8F0FB"/>
                </a:solidFill>
              </a:rPr>
              <a:t> weekly node-cron job for every active project + on-demand button.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6A34A"/>
                </a:solidFill>
              </a:rPr>
              <a:t>•  </a:t>
            </a:r>
            <a:r>
              <a:rPr sz="1800" b="1">
                <a:solidFill>
                  <a:srgbClr val="1F355E"/>
                </a:solidFill>
              </a:rPr>
              <a:t>Resilient:</a:t>
            </a:r>
            <a:r>
              <a:rPr sz="1800">
                <a:solidFill>
                  <a:srgbClr val="E8F0FB"/>
                </a:solidFill>
              </a:rPr>
              <a:t> template fallback, 'unknown' flag, and an 'AI unavailable' badge if the API fails.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7315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 i="0">
                <a:solidFill>
                  <a:srgbClr val="E8F0FB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900" b="1">
                <a:solidFill>
                  <a:srgbClr val="2B6CB0"/>
                </a:solidFill>
              </a:rPr>
              <a:t>•  </a:t>
            </a:r>
            <a:r>
              <a:rPr sz="1900" b="1">
                <a:solidFill>
                  <a:srgbClr val="1F355E"/>
                </a:solidFill>
              </a:rPr>
              <a:t>Frontend:</a:t>
            </a:r>
            <a:r>
              <a:rPr sz="1900">
                <a:solidFill>
                  <a:srgbClr val="555555"/>
                </a:solidFill>
              </a:rPr>
              <a:t> React, Tailwind, Recharts, @dnd-kit, Axios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2B6CB0"/>
                </a:solidFill>
              </a:rPr>
              <a:t>•  </a:t>
            </a:r>
            <a:r>
              <a:rPr sz="1900" b="1">
                <a:solidFill>
                  <a:srgbClr val="1F355E"/>
                </a:solidFill>
              </a:rPr>
              <a:t>Backend:</a:t>
            </a:r>
            <a:r>
              <a:rPr sz="1900">
                <a:solidFill>
                  <a:srgbClr val="555555"/>
                </a:solidFill>
              </a:rPr>
              <a:t> Node.js, Express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2B6CB0"/>
                </a:solidFill>
              </a:rPr>
              <a:t>•  </a:t>
            </a:r>
            <a:r>
              <a:rPr sz="1900" b="1">
                <a:solidFill>
                  <a:srgbClr val="1F355E"/>
                </a:solidFill>
              </a:rPr>
              <a:t>Database:</a:t>
            </a:r>
            <a:r>
              <a:rPr sz="1900">
                <a:solidFill>
                  <a:srgbClr val="555555"/>
                </a:solidFill>
              </a:rPr>
              <a:t> PostgreSQL + Prisma ORM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2B6CB0"/>
                </a:solidFill>
              </a:rPr>
              <a:t>•  </a:t>
            </a:r>
            <a:r>
              <a:rPr sz="1900" b="1">
                <a:solidFill>
                  <a:srgbClr val="1F355E"/>
                </a:solidFill>
              </a:rPr>
              <a:t>Auth:</a:t>
            </a:r>
            <a:r>
              <a:rPr sz="1900">
                <a:solidFill>
                  <a:srgbClr val="555555"/>
                </a:solidFill>
              </a:rPr>
              <a:t> JWT + bcrypt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2B6CB0"/>
                </a:solidFill>
              </a:rPr>
              <a:t>•  </a:t>
            </a:r>
            <a:r>
              <a:rPr sz="1900" b="1">
                <a:solidFill>
                  <a:srgbClr val="1F355E"/>
                </a:solidFill>
              </a:rPr>
              <a:t>Real-time:</a:t>
            </a:r>
            <a:r>
              <a:rPr sz="1900">
                <a:solidFill>
                  <a:srgbClr val="555555"/>
                </a:solidFill>
              </a:rPr>
              <a:t> Socket.io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900" b="1">
                <a:solidFill>
                  <a:srgbClr val="2B6CB0"/>
                </a:solidFill>
              </a:rPr>
              <a:t>•  </a:t>
            </a:r>
            <a:r>
              <a:rPr sz="1900" b="1">
                <a:solidFill>
                  <a:srgbClr val="1F355E"/>
                </a:solidFill>
              </a:rPr>
              <a:t>AI:</a:t>
            </a:r>
            <a:r>
              <a:rPr sz="1900">
                <a:solidFill>
                  <a:srgbClr val="555555"/>
                </a:solidFill>
              </a:rPr>
              <a:t> Groq API (Llama 3.3, OpenAI-compatible)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2B6CB0"/>
                </a:solidFill>
              </a:rPr>
              <a:t>•  </a:t>
            </a:r>
            <a:r>
              <a:rPr sz="1900" b="1">
                <a:solidFill>
                  <a:srgbClr val="1F355E"/>
                </a:solidFill>
              </a:rPr>
              <a:t>Payments:</a:t>
            </a:r>
            <a:r>
              <a:rPr sz="1900">
                <a:solidFill>
                  <a:srgbClr val="555555"/>
                </a:solidFill>
              </a:rPr>
              <a:t> Razorpay (test mode)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2B6CB0"/>
                </a:solidFill>
              </a:rPr>
              <a:t>•  </a:t>
            </a:r>
            <a:r>
              <a:rPr sz="1900" b="1">
                <a:solidFill>
                  <a:srgbClr val="1F355E"/>
                </a:solidFill>
              </a:rPr>
              <a:t>Email / Media:</a:t>
            </a:r>
            <a:r>
              <a:rPr sz="1900">
                <a:solidFill>
                  <a:srgbClr val="555555"/>
                </a:solidFill>
              </a:rPr>
              <a:t> Nodemailer / ImageKit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2B6CB0"/>
                </a:solidFill>
              </a:rPr>
              <a:t>•  </a:t>
            </a:r>
            <a:r>
              <a:rPr sz="1900" b="1">
                <a:solidFill>
                  <a:srgbClr val="1F355E"/>
                </a:solidFill>
              </a:rPr>
              <a:t>Jobs / PDF:</a:t>
            </a:r>
            <a:r>
              <a:rPr sz="1900">
                <a:solidFill>
                  <a:srgbClr val="555555"/>
                </a:solidFill>
              </a:rPr>
              <a:t> node-cron / pdfkit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2B6CB0"/>
                </a:solidFill>
              </a:rPr>
              <a:t>•  </a:t>
            </a:r>
            <a:r>
              <a:rPr sz="1900" b="1">
                <a:solidFill>
                  <a:srgbClr val="1F355E"/>
                </a:solidFill>
              </a:rPr>
              <a:t>Quality:</a:t>
            </a:r>
            <a:r>
              <a:rPr sz="1900">
                <a:solidFill>
                  <a:srgbClr val="555555"/>
                </a:solidFill>
              </a:rPr>
              <a:t> Vitest · ESLint · Prettier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2B6CB0"/>
                </a:solidFill>
              </a:rPr>
              <a:t>•  </a:t>
            </a:r>
            <a:r>
              <a:rPr sz="1900" b="1">
                <a:solidFill>
                  <a:srgbClr val="1F355E"/>
                </a:solidFill>
              </a:rPr>
              <a:t>DevOps:</a:t>
            </a:r>
            <a:r>
              <a:rPr sz="1900">
                <a:solidFill>
                  <a:srgbClr val="555555"/>
                </a:solidFill>
              </a:rPr>
              <a:t> Docker · GitHub Actions CI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2B6CB0"/>
                </a:solidFill>
              </a:rPr>
              <a:t>•  </a:t>
            </a:r>
            <a:r>
              <a:rPr sz="1900" b="1">
                <a:solidFill>
                  <a:srgbClr val="1F355E"/>
                </a:solidFill>
              </a:rPr>
              <a:t>Deploy:</a:t>
            </a:r>
            <a:r>
              <a:rPr sz="1900">
                <a:solidFill>
                  <a:srgbClr val="555555"/>
                </a:solidFill>
              </a:rPr>
              <a:t> Vercel · Render · Neon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7315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 i="0">
                <a:solidFill>
                  <a:srgbClr val="E8F0FB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291840" cy="24688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29260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React SPA
Tailwind · Recharts
dnd-kit
Axios + Socket.io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828800"/>
            <a:ext cx="3291840" cy="2468880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92024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651760"/>
            <a:ext cx="29260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Express REST API
Routes → Middleware →
Controllers → Services
Socket.io · Cron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828800"/>
            <a:ext cx="3291840" cy="24688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DATA &amp;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651760"/>
            <a:ext cx="29260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PostgreSQL (Prisma)
Groq AI · Razorpay
ImageKit · SMTP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88036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288036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555555"/>
                </a:solidFill>
                <a:latin typeface="Calibri"/>
              </a:rPr>
              <a:t>Decoupled 3-tier design. Secrets stay server-side; the browser never talks to external APIs directly. JWT secures REST; Socket.io rooms target live events to the right users.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Live Demo /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7315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 i="0">
                <a:solidFill>
                  <a:srgbClr val="E8F0FB"/>
                </a:solidFill>
                <a:latin typeface="Calibr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3383280" cy="17830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3383280" cy="1783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2B6CB0"/>
                </a:solidFill>
                <a:latin typeface="Calibri"/>
              </a:rPr>
              <a:t>[ Login + demo credentials ]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554480"/>
            <a:ext cx="3383280" cy="17830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554480"/>
            <a:ext cx="3383280" cy="1783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2B6CB0"/>
                </a:solidFill>
                <a:latin typeface="Calibri"/>
              </a:rPr>
              <a:t>[ Admin analytics dashboard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554480"/>
            <a:ext cx="3383280" cy="17830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554480"/>
            <a:ext cx="3383280" cy="1783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2B6CB0"/>
                </a:solidFill>
                <a:latin typeface="Calibri"/>
              </a:rPr>
              <a:t>[ Kanban board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703320"/>
            <a:ext cx="3383280" cy="17830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703320"/>
            <a:ext cx="3383280" cy="1783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2B6CB0"/>
                </a:solidFill>
                <a:latin typeface="Calibri"/>
              </a:rPr>
              <a:t>[ Invoice + PDF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3703320"/>
            <a:ext cx="3383280" cy="17830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3703320"/>
            <a:ext cx="3383280" cy="1783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2B6CB0"/>
                </a:solidFill>
                <a:latin typeface="Calibri"/>
              </a:rPr>
              <a:t>[ Client AI summary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3703320"/>
            <a:ext cx="3383280" cy="17830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3703320"/>
            <a:ext cx="3383280" cy="1783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2B6CB0"/>
                </a:solidFill>
                <a:latin typeface="Calibri"/>
              </a:rPr>
              <a:t>[ Notifications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Security &amp; Data Isolation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7315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 i="0">
                <a:solidFill>
                  <a:srgbClr val="E8F0FB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2B6CB0"/>
                </a:solidFill>
              </a:rPr>
              <a:t>•  </a:t>
            </a:r>
            <a:r>
              <a:rPr sz="1900" b="1">
                <a:solidFill>
                  <a:srgbClr val="1F355E"/>
                </a:solidFill>
              </a:rPr>
              <a:t>Passwords:</a:t>
            </a:r>
            <a:r>
              <a:rPr sz="1900">
                <a:solidFill>
                  <a:srgbClr val="555555"/>
                </a:solidFill>
              </a:rPr>
              <a:t> bcrypt-hashed; plain text is never stored.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B6CB0"/>
                </a:solidFill>
              </a:rPr>
              <a:t>•  </a:t>
            </a:r>
            <a:r>
              <a:rPr sz="1900" b="1">
                <a:solidFill>
                  <a:srgbClr val="1F355E"/>
                </a:solidFill>
              </a:rPr>
              <a:t>Tokens:</a:t>
            </a:r>
            <a:r>
              <a:rPr sz="1900">
                <a:solidFill>
                  <a:srgbClr val="555555"/>
                </a:solidFill>
              </a:rPr>
              <a:t> signed JWTs with the algorithm pinned, re-validated against the database so a disabled account loses access at once.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B6CB0"/>
                </a:solidFill>
              </a:rPr>
              <a:t>•  </a:t>
            </a:r>
            <a:r>
              <a:rPr sz="1900" b="1">
                <a:solidFill>
                  <a:srgbClr val="1F355E"/>
                </a:solidFill>
              </a:rPr>
              <a:t>Tenant isolation:</a:t>
            </a:r>
            <a:r>
              <a:rPr sz="1900">
                <a:solidFill>
                  <a:srgbClr val="555555"/>
                </a:solidFill>
              </a:rPr>
              <a:t> a client requesting another client's project gets 403 — enforced on the server, so bypassing the UI does not help.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B6CB0"/>
                </a:solidFill>
              </a:rPr>
              <a:t>•  </a:t>
            </a:r>
            <a:r>
              <a:rPr sz="1900" b="1">
                <a:solidFill>
                  <a:srgbClr val="1F355E"/>
                </a:solidFill>
              </a:rPr>
              <a:t>No privilege escalation:</a:t>
            </a:r>
            <a:r>
              <a:rPr sz="1900">
                <a:solidFill>
                  <a:srgbClr val="555555"/>
                </a:solidFill>
              </a:rPr>
              <a:t> public signup hard-codes the team_member role.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B6CB0"/>
                </a:solidFill>
              </a:rPr>
              <a:t>•  </a:t>
            </a:r>
            <a:r>
              <a:rPr sz="1900" b="1">
                <a:solidFill>
                  <a:srgbClr val="1F355E"/>
                </a:solidFill>
              </a:rPr>
              <a:t>Payments:</a:t>
            </a:r>
            <a:r>
              <a:rPr sz="1900">
                <a:solidFill>
                  <a:srgbClr val="555555"/>
                </a:solidFill>
              </a:rPr>
              <a:t> an invoice is marked paid only after an HMAC signature check on the raw webhook body — never on the browser's word.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B6CB0"/>
                </a:solidFill>
              </a:rPr>
              <a:t>•  </a:t>
            </a:r>
            <a:r>
              <a:rPr sz="1900" b="1">
                <a:solidFill>
                  <a:srgbClr val="1F355E"/>
                </a:solidFill>
              </a:rPr>
              <a:t>Defence in depth:</a:t>
            </a:r>
            <a:r>
              <a:rPr sz="1900">
                <a:solidFill>
                  <a:srgbClr val="555555"/>
                </a:solidFill>
              </a:rPr>
              <a:t> Zod validation, Helmet headers, rate-limited login, 2 MB image-only uploads, and no stack traces in production responses.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Engineering Quality &amp; DevOps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7315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 i="0">
                <a:solidFill>
                  <a:srgbClr val="E8F0FB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B6CB0"/>
                </a:solidFill>
              </a:rPr>
              <a:t>•  </a:t>
            </a:r>
            <a:r>
              <a:rPr sz="1800" b="1">
                <a:solidFill>
                  <a:srgbClr val="1F355E"/>
                </a:solidFill>
              </a:rPr>
              <a:t>Automated tests:</a:t>
            </a:r>
            <a:r>
              <a:rPr sz="1800">
                <a:solidFill>
                  <a:srgbClr val="555555"/>
                </a:solidFill>
              </a:rPr>
              <a:t> 44 Vitest tests — auth, calculations, the AI fallback, RBAC, the error handler and webhook verification — all passing.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B6CB0"/>
                </a:solidFill>
              </a:rPr>
              <a:t>•  </a:t>
            </a:r>
            <a:r>
              <a:rPr sz="1800" b="1">
                <a:solidFill>
                  <a:srgbClr val="1F355E"/>
                </a:solidFill>
              </a:rPr>
              <a:t>Linting &amp; formatting:</a:t>
            </a:r>
            <a:r>
              <a:rPr sz="1800">
                <a:solidFill>
                  <a:srgbClr val="555555"/>
                </a:solidFill>
              </a:rPr>
              <a:t> ESLint (flat config) + Prettier — zero warnings on both apps.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B6CB0"/>
                </a:solidFill>
              </a:rPr>
              <a:t>•  </a:t>
            </a:r>
            <a:r>
              <a:rPr sz="1800" b="1">
                <a:solidFill>
                  <a:srgbClr val="1F355E"/>
                </a:solidFill>
              </a:rPr>
              <a:t>Continuous Integration:</a:t>
            </a:r>
            <a:r>
              <a:rPr sz="1800">
                <a:solidFill>
                  <a:srgbClr val="555555"/>
                </a:solidFill>
              </a:rPr>
              <a:t> GitHub Actions runs lint + tests + build on every push and PR.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B6CB0"/>
                </a:solidFill>
              </a:rPr>
              <a:t>•  </a:t>
            </a:r>
            <a:r>
              <a:rPr sz="1800" b="1">
                <a:solidFill>
                  <a:srgbClr val="1F355E"/>
                </a:solidFill>
              </a:rPr>
              <a:t>Containerized:</a:t>
            </a:r>
            <a:r>
              <a:rPr sz="1800">
                <a:solidFill>
                  <a:srgbClr val="555555"/>
                </a:solidFill>
              </a:rPr>
              <a:t> Docker + docker-compose bring up Postgres, API, and frontend in one command.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B6CB0"/>
                </a:solidFill>
              </a:rPr>
              <a:t>•  </a:t>
            </a:r>
            <a:r>
              <a:rPr sz="1800" b="1">
                <a:solidFill>
                  <a:srgbClr val="1F355E"/>
                </a:solidFill>
              </a:rPr>
              <a:t>Performance:</a:t>
            </a:r>
            <a:r>
              <a:rPr sz="1800">
                <a:solidFill>
                  <a:srgbClr val="555555"/>
                </a:solidFill>
              </a:rPr>
              <a:t> route-level code splitting took the initial bundle from ~748 KB to ~233 KB; search is debounced; responses and assets are gzipped.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B6CB0"/>
                </a:solidFill>
              </a:rPr>
              <a:t>•  </a:t>
            </a:r>
            <a:r>
              <a:rPr sz="1800" b="1">
                <a:solidFill>
                  <a:srgbClr val="1F355E"/>
                </a:solidFill>
              </a:rPr>
              <a:t>Operability:</a:t>
            </a:r>
            <a:r>
              <a:rPr sz="1800">
                <a:solidFill>
                  <a:srgbClr val="555555"/>
                </a:solidFill>
              </a:rPr>
              <a:t> env validation at boot, a health check that reports database reachability, structured logging, and graceful shutdown on SIGTERM.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B6CB0"/>
                </a:solidFill>
              </a:rPr>
              <a:t>•  </a:t>
            </a:r>
            <a:r>
              <a:rPr sz="1800" b="1">
                <a:solidFill>
                  <a:srgbClr val="1F355E"/>
                </a:solidFill>
              </a:rPr>
              <a:t>Graceful failure:</a:t>
            </a:r>
            <a:r>
              <a:rPr sz="1800">
                <a:solidFill>
                  <a:srgbClr val="555555"/>
                </a:solidFill>
              </a:rPr>
              <a:t> every external integration is optional and degrades instead of crashing — the AI falls back to a computed summary.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9966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E8F0FB"/>
                </a:solidFill>
                <a:latin typeface="Calibri"/>
              </a:rPr>
              <a:t>ClientHub — a full-stack, AI-powered SaaS demonstrating secure multi-role access, real-time collaboration, online payments, and production-grade AI reporting with graceful fallback.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Suryakanta Pradhan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406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E8F0FB"/>
                </a:solidFill>
                <a:latin typeface="Calibri"/>
              </a:rPr>
              <a:t>MCA  •  Full-Stack Developer  •  Email: __________   GitHub: 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